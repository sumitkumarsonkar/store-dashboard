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61" r:id="rId3"/>
    <p:sldId id="262" r:id="rId4"/>
    <p:sldId id="257" r:id="rId5"/>
    <p:sldId id="258" r:id="rId6"/>
    <p:sldId id="259" r:id="rId7"/>
    <p:sldId id="260" r:id="rId8"/>
    <p:sldId id="263" r:id="rId9"/>
  </p:sldIdLst>
  <p:sldSz cx="12192000" cy="6858000"/>
  <p:notesSz cx="6858000" cy="12192000"/>
  <p:embeddedFontLst>
    <p:embeddedFont>
      <p:font typeface="Arimo" panose="020B0604020202020204" charset="0"/>
      <p:regular r:id="rId11"/>
    </p:embeddedFont>
    <p:embeddedFont>
      <p:font typeface="Arimo Bold" panose="020B0604020202020204" charset="0"/>
      <p:regular r:id="rId12"/>
    </p:embeddedFont>
    <p:embeddedFont>
      <p:font typeface="Syne Bold" panose="020B0604020202020204" charset="0"/>
      <p:regular r:id="rId13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>
        <p:scale>
          <a:sx n="70" d="100"/>
          <a:sy n="70" d="100"/>
        </p:scale>
        <p:origin x="1138" y="6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3.fntdata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2.fntdata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1.fntdata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6019599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50D4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C0A33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svg"/><Relationship Id="rId3" Type="http://schemas.openxmlformats.org/officeDocument/2006/relationships/image" Target="../media/image10.svg"/><Relationship Id="rId7" Type="http://schemas.openxmlformats.org/officeDocument/2006/relationships/image" Target="../media/image14.sv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.svg"/><Relationship Id="rId5" Type="http://schemas.openxmlformats.org/officeDocument/2006/relationships/image" Target="../media/image12.svg"/><Relationship Id="rId4" Type="http://schemas.openxmlformats.org/officeDocument/2006/relationships/image" Target="../media/image11.sv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sv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7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19809" y="0"/>
            <a:ext cx="4571886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698086" y="1476970"/>
            <a:ext cx="1703940" cy="265113"/>
          </a:xfrm>
          <a:prstGeom prst="roundRect">
            <a:avLst>
              <a:gd name="adj" fmla="val 7901"/>
            </a:avLst>
          </a:prstGeom>
          <a:solidFill>
            <a:srgbClr val="0F004D"/>
          </a:solidFill>
          <a:ln/>
        </p:spPr>
      </p:sp>
      <p:sp>
        <p:nvSpPr>
          <p:cNvPr id="4" name="Text 1"/>
          <p:cNvSpPr/>
          <p:nvPr/>
        </p:nvSpPr>
        <p:spPr>
          <a:xfrm>
            <a:off x="802759" y="1529259"/>
            <a:ext cx="2104179" cy="1605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1050" dirty="0">
                <a:solidFill>
                  <a:srgbClr val="D9E1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POWER BI ANALYTICS</a:t>
            </a:r>
            <a:endParaRPr lang="en-US" sz="1050" dirty="0"/>
          </a:p>
        </p:txBody>
      </p:sp>
      <p:sp>
        <p:nvSpPr>
          <p:cNvPr id="5" name="Text 2"/>
          <p:cNvSpPr/>
          <p:nvPr/>
        </p:nvSpPr>
        <p:spPr>
          <a:xfrm>
            <a:off x="698086" y="1811834"/>
            <a:ext cx="6223638" cy="102651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Power BI Data Analytics Dashboard</a:t>
            </a:r>
            <a:endParaRPr lang="en-US" sz="3200" dirty="0"/>
          </a:p>
        </p:txBody>
      </p:sp>
      <p:sp>
        <p:nvSpPr>
          <p:cNvPr id="6" name="Text 3"/>
          <p:cNvSpPr/>
          <p:nvPr/>
        </p:nvSpPr>
        <p:spPr>
          <a:xfrm>
            <a:off x="698086" y="2908102"/>
            <a:ext cx="6223638" cy="2566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b="1" dirty="0">
                <a:solidFill>
                  <a:srgbClr val="8061FF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Business Performance &amp; Data Insights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698086" y="3426520"/>
            <a:ext cx="6223638" cy="195441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350" dirty="0">
                <a:solidFill>
                  <a:srgbClr val="D9E1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This presentation delivers a comprehensive analysis of retail business performance using </a:t>
            </a:r>
            <a:r>
              <a:rPr lang="en-US" sz="1350" b="1" dirty="0">
                <a:solidFill>
                  <a:srgbClr val="D9E1FF"/>
                </a:solidFill>
                <a:latin typeface="Arimo Bold" pitchFamily="34" charset="0"/>
                <a:ea typeface="Arimo Bold" pitchFamily="34" charset="-122"/>
                <a:cs typeface="Arimo Bold" pitchFamily="34" charset="-120"/>
              </a:rPr>
              <a:t>Power BI</a:t>
            </a:r>
            <a:r>
              <a:rPr lang="en-US" sz="1350" dirty="0">
                <a:solidFill>
                  <a:srgbClr val="D9E1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 — an industry-leading data visualization and business intelligence platform. The dashboard tracks key metrics across </a:t>
            </a:r>
            <a:r>
              <a:rPr lang="en-US" sz="1350" b="1" dirty="0">
                <a:solidFill>
                  <a:srgbClr val="D9E1FF"/>
                </a:solidFill>
                <a:latin typeface="Arimo Bold" pitchFamily="34" charset="0"/>
                <a:ea typeface="Arimo Bold" pitchFamily="34" charset="-122"/>
                <a:cs typeface="Arimo Bold" pitchFamily="34" charset="-120"/>
              </a:rPr>
              <a:t>three product categories</a:t>
            </a:r>
            <a:r>
              <a:rPr lang="en-US" sz="1350" dirty="0">
                <a:solidFill>
                  <a:srgbClr val="D9E1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 (Clothing, Electronics, and Furniture), </a:t>
            </a:r>
            <a:r>
              <a:rPr lang="en-US" sz="1350" b="1" dirty="0">
                <a:solidFill>
                  <a:srgbClr val="D9E1FF"/>
                </a:solidFill>
                <a:latin typeface="Arimo Bold" pitchFamily="34" charset="0"/>
                <a:ea typeface="Arimo Bold" pitchFamily="34" charset="-122"/>
                <a:cs typeface="Arimo Bold" pitchFamily="34" charset="-120"/>
              </a:rPr>
              <a:t>19 Indian states</a:t>
            </a:r>
            <a:r>
              <a:rPr lang="en-US" sz="1350" dirty="0">
                <a:solidFill>
                  <a:srgbClr val="D9E1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, and </a:t>
            </a:r>
            <a:r>
              <a:rPr lang="en-US" sz="1350" b="1" dirty="0">
                <a:solidFill>
                  <a:srgbClr val="D9E1FF"/>
                </a:solidFill>
                <a:latin typeface="Arimo Bold" pitchFamily="34" charset="0"/>
                <a:ea typeface="Arimo Bold" pitchFamily="34" charset="-122"/>
                <a:cs typeface="Arimo Bold" pitchFamily="34" charset="-120"/>
              </a:rPr>
              <a:t>25 cities</a:t>
            </a:r>
            <a:r>
              <a:rPr lang="en-US" sz="1350" dirty="0">
                <a:solidFill>
                  <a:srgbClr val="D9E1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, covering all 12 months of the fiscal year. With </a:t>
            </a:r>
            <a:r>
              <a:rPr lang="en-US" sz="1350" b="1" dirty="0">
                <a:solidFill>
                  <a:srgbClr val="D9E1FF"/>
                </a:solidFill>
                <a:latin typeface="Arimo Bold" pitchFamily="34" charset="0"/>
                <a:ea typeface="Arimo Bold" pitchFamily="34" charset="-122"/>
                <a:cs typeface="Arimo Bold" pitchFamily="34" charset="-120"/>
              </a:rPr>
              <a:t>17 sub-categories</a:t>
            </a:r>
            <a:r>
              <a:rPr lang="en-US" sz="1350" dirty="0">
                <a:solidFill>
                  <a:srgbClr val="D9E1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 and </a:t>
            </a:r>
            <a:r>
              <a:rPr lang="en-US" sz="1350" b="1" dirty="0">
                <a:solidFill>
                  <a:srgbClr val="D9E1FF"/>
                </a:solidFill>
                <a:latin typeface="Arimo Bold" pitchFamily="34" charset="0"/>
                <a:ea typeface="Arimo Bold" pitchFamily="34" charset="-122"/>
                <a:cs typeface="Arimo Bold" pitchFamily="34" charset="-120"/>
              </a:rPr>
              <a:t>5 payment modes</a:t>
            </a:r>
            <a:r>
              <a:rPr lang="en-US" sz="1350" dirty="0">
                <a:solidFill>
                  <a:srgbClr val="D9E1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 analyzed, this report provides actionable insights to support strategic business decisions.</a:t>
            </a:r>
            <a:endParaRPr lang="en-US" sz="13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9210F48-AC13-C5DE-2040-29A3BC563E3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0056" y="159211"/>
            <a:ext cx="10931887" cy="6382246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147479799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29AA23B-3640-009F-A791-31FE05A88D4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3708" y="486310"/>
            <a:ext cx="5430006" cy="6092723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43347174-B440-B3FA-4380-5F75D49C8AC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49950" y="486310"/>
            <a:ext cx="3973284" cy="6095217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B76DCB0A-7C85-0B3F-AF39-FF9EEFF35D06}"/>
              </a:ext>
            </a:extLst>
          </p:cNvPr>
          <p:cNvSpPr txBox="1"/>
          <p:nvPr/>
        </p:nvSpPr>
        <p:spPr>
          <a:xfrm>
            <a:off x="2891630" y="94301"/>
            <a:ext cx="141416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solidFill>
                  <a:schemeClr val="bg1"/>
                </a:solidFill>
              </a:rPr>
              <a:t>Detail Table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48323AF-FE84-9EAE-874C-FA03E81B1DE4}"/>
              </a:ext>
            </a:extLst>
          </p:cNvPr>
          <p:cNvSpPr txBox="1"/>
          <p:nvPr/>
        </p:nvSpPr>
        <p:spPr>
          <a:xfrm>
            <a:off x="8429511" y="91807"/>
            <a:ext cx="141416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solidFill>
                  <a:schemeClr val="bg1"/>
                </a:solidFill>
              </a:rPr>
              <a:t>Order Table</a:t>
            </a:r>
          </a:p>
        </p:txBody>
      </p:sp>
    </p:spTree>
    <p:extLst>
      <p:ext uri="{BB962C8B-B14F-4D97-AF65-F5344CB8AC3E}">
        <p14:creationId xmlns:p14="http://schemas.microsoft.com/office/powerpoint/2010/main" val="31406890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98086" y="732730"/>
            <a:ext cx="10795524" cy="4170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600" b="1" dirty="0">
                <a:solidFill>
                  <a:srgbClr val="FFFFFF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Dashboard Overview &amp; Key Performance Indicators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698086" y="1380133"/>
            <a:ext cx="10795524" cy="4111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100" dirty="0">
                <a:solidFill>
                  <a:srgbClr val="D9E1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These KPIs represent the core performance metrics from the Power BI dashboard, covering sales volume, profitability, geographic reach, and product diversity across the full fiscal year.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98086" y="1991717"/>
            <a:ext cx="5325731" cy="4680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83000"/>
              </a:lnSpc>
              <a:buNone/>
            </a:pPr>
            <a:r>
              <a:rPr lang="en-US" sz="3650" b="1" dirty="0">
                <a:solidFill>
                  <a:srgbClr val="D9E1FF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437K</a:t>
            </a:r>
            <a:endParaRPr lang="en-US" sz="3650" dirty="0"/>
          </a:p>
        </p:txBody>
      </p:sp>
      <p:sp>
        <p:nvSpPr>
          <p:cNvPr id="5" name="Text 3"/>
          <p:cNvSpPr/>
          <p:nvPr/>
        </p:nvSpPr>
        <p:spPr>
          <a:xfrm>
            <a:off x="698086" y="2616994"/>
            <a:ext cx="5325731" cy="2085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D9E1FF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Total Sales Amount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98086" y="2894608"/>
            <a:ext cx="5325731" cy="2055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21000"/>
              </a:lnSpc>
              <a:buNone/>
            </a:pPr>
            <a:r>
              <a:rPr lang="en-US" sz="1100" dirty="0">
                <a:solidFill>
                  <a:srgbClr val="D9E1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Combined revenue across all categories, states, and cities for the full fiscal year.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6167779" y="1991717"/>
            <a:ext cx="5325830" cy="4680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83000"/>
              </a:lnSpc>
              <a:buNone/>
            </a:pPr>
            <a:r>
              <a:rPr lang="en-US" sz="3650" b="1" dirty="0">
                <a:solidFill>
                  <a:srgbClr val="D9E1FF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37K</a:t>
            </a:r>
            <a:endParaRPr lang="en-US" sz="3650" dirty="0"/>
          </a:p>
        </p:txBody>
      </p:sp>
      <p:sp>
        <p:nvSpPr>
          <p:cNvPr id="8" name="Text 6"/>
          <p:cNvSpPr/>
          <p:nvPr/>
        </p:nvSpPr>
        <p:spPr>
          <a:xfrm>
            <a:off x="6167779" y="2616994"/>
            <a:ext cx="5325830" cy="2085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D9E1FF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Total Profit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167779" y="2894608"/>
            <a:ext cx="5325830" cy="2055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21000"/>
              </a:lnSpc>
              <a:buNone/>
            </a:pPr>
            <a:r>
              <a:rPr lang="en-US" sz="1100" dirty="0">
                <a:solidFill>
                  <a:srgbClr val="D9E1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Net profit generated across all product categories and regions. Profit margin: ~8.5%.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98086" y="3401417"/>
            <a:ext cx="5325731" cy="4680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83000"/>
              </a:lnSpc>
              <a:buNone/>
            </a:pPr>
            <a:r>
              <a:rPr lang="en-US" sz="3650" b="1" dirty="0">
                <a:solidFill>
                  <a:srgbClr val="D9E1FF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6K+</a:t>
            </a:r>
            <a:endParaRPr lang="en-US" sz="3650" dirty="0"/>
          </a:p>
        </p:txBody>
      </p:sp>
      <p:sp>
        <p:nvSpPr>
          <p:cNvPr id="11" name="Text 9"/>
          <p:cNvSpPr/>
          <p:nvPr/>
        </p:nvSpPr>
        <p:spPr>
          <a:xfrm>
            <a:off x="698086" y="4026694"/>
            <a:ext cx="5325731" cy="2085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D9E1FF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Total Quantity Sold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98086" y="4304308"/>
            <a:ext cx="5325731" cy="2055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21000"/>
              </a:lnSpc>
              <a:buNone/>
            </a:pPr>
            <a:r>
              <a:rPr lang="en-US" sz="1100" dirty="0">
                <a:solidFill>
                  <a:srgbClr val="D9E1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Units sold across all categories — Clothing leads with 62.62% of total volume.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167779" y="3401417"/>
            <a:ext cx="5325830" cy="4680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83000"/>
              </a:lnSpc>
              <a:buNone/>
            </a:pPr>
            <a:r>
              <a:rPr lang="en-US" sz="3650" b="1" dirty="0">
                <a:solidFill>
                  <a:srgbClr val="D9E1FF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19</a:t>
            </a:r>
            <a:endParaRPr lang="en-US" sz="3650" dirty="0"/>
          </a:p>
        </p:txBody>
      </p:sp>
      <p:sp>
        <p:nvSpPr>
          <p:cNvPr id="14" name="Text 12"/>
          <p:cNvSpPr/>
          <p:nvPr/>
        </p:nvSpPr>
        <p:spPr>
          <a:xfrm>
            <a:off x="6167779" y="4026694"/>
            <a:ext cx="5325830" cy="2085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D9E1FF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States Covered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167779" y="4304308"/>
            <a:ext cx="5325830" cy="4111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21000"/>
              </a:lnSpc>
              <a:buNone/>
            </a:pPr>
            <a:r>
              <a:rPr lang="en-US" sz="1100" dirty="0">
                <a:solidFill>
                  <a:srgbClr val="D9E1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Geographic reach across Indian states, with Madhya Pradesh and Maharashtra as top contributors.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98086" y="5016698"/>
            <a:ext cx="5325731" cy="4680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83000"/>
              </a:lnSpc>
              <a:buNone/>
            </a:pPr>
            <a:r>
              <a:rPr lang="en-US" sz="3650" b="1" dirty="0">
                <a:solidFill>
                  <a:srgbClr val="D9E1FF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25</a:t>
            </a:r>
            <a:endParaRPr lang="en-US" sz="3650" dirty="0"/>
          </a:p>
        </p:txBody>
      </p:sp>
      <p:sp>
        <p:nvSpPr>
          <p:cNvPr id="17" name="Text 15"/>
          <p:cNvSpPr/>
          <p:nvPr/>
        </p:nvSpPr>
        <p:spPr>
          <a:xfrm>
            <a:off x="698086" y="5641975"/>
            <a:ext cx="5325731" cy="2085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D9E1FF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Cities Tracked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98086" y="5919589"/>
            <a:ext cx="5325731" cy="2055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21000"/>
              </a:lnSpc>
              <a:buNone/>
            </a:pPr>
            <a:r>
              <a:rPr lang="en-US" sz="1100" dirty="0">
                <a:solidFill>
                  <a:srgbClr val="D9E1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Urban markets monitored, led by Indore (6.8K profit) and Pune (6.2K profit).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167779" y="5016698"/>
            <a:ext cx="5325830" cy="4680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83000"/>
              </a:lnSpc>
              <a:buNone/>
            </a:pPr>
            <a:r>
              <a:rPr lang="en-US" sz="3650" b="1" dirty="0">
                <a:solidFill>
                  <a:srgbClr val="D9E1FF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17</a:t>
            </a:r>
            <a:endParaRPr lang="en-US" sz="3650" dirty="0"/>
          </a:p>
        </p:txBody>
      </p:sp>
      <p:sp>
        <p:nvSpPr>
          <p:cNvPr id="20" name="Text 18"/>
          <p:cNvSpPr/>
          <p:nvPr/>
        </p:nvSpPr>
        <p:spPr>
          <a:xfrm>
            <a:off x="6167779" y="5641975"/>
            <a:ext cx="5325830" cy="2085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D9E1FF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Sub-Categories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6167779" y="5919589"/>
            <a:ext cx="5325830" cy="2055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21000"/>
              </a:lnSpc>
              <a:buNone/>
            </a:pPr>
            <a:r>
              <a:rPr lang="en-US" sz="1100" dirty="0">
                <a:solidFill>
                  <a:srgbClr val="D9E1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Product sub-categories tracked, including Printers, Saree, Bookcases, and Phones.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37165" y="120417"/>
            <a:ext cx="10795524" cy="2566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Data Analysis &amp; Visualizations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93446" y="453104"/>
            <a:ext cx="11405108" cy="1047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650" dirty="0">
                <a:solidFill>
                  <a:srgbClr val="D9E1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Key charts reveal seasonal profit patterns, regional performance, category distribution, and payment behavior across the business.</a:t>
            </a:r>
            <a:endParaRPr lang="en-US" sz="650" dirty="0"/>
          </a:p>
        </p:txBody>
      </p:sp>
      <p:sp>
        <p:nvSpPr>
          <p:cNvPr id="4" name="Text 2"/>
          <p:cNvSpPr/>
          <p:nvPr/>
        </p:nvSpPr>
        <p:spPr>
          <a:xfrm>
            <a:off x="393446" y="628276"/>
            <a:ext cx="5291303" cy="1282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800" b="1" dirty="0">
                <a:solidFill>
                  <a:srgbClr val="FFFFFF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Monthly Profit Trend (K)</a:t>
            </a:r>
            <a:endParaRPr lang="en-US" sz="8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4713" y="791694"/>
            <a:ext cx="3286085" cy="2365404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499752" y="3301897"/>
            <a:ext cx="5900888" cy="1047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650" dirty="0">
                <a:solidFill>
                  <a:srgbClr val="D9E1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Strong start (Jan: 9.7K) and peak in November (10.3K). May, July, September, and December posted losses.</a:t>
            </a:r>
            <a:endParaRPr lang="en-US" sz="650" dirty="0"/>
          </a:p>
        </p:txBody>
      </p:sp>
      <p:sp>
        <p:nvSpPr>
          <p:cNvPr id="7" name="Text 4"/>
          <p:cNvSpPr/>
          <p:nvPr/>
        </p:nvSpPr>
        <p:spPr>
          <a:xfrm>
            <a:off x="6663532" y="190272"/>
            <a:ext cx="5291303" cy="1282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800" b="1" dirty="0">
                <a:solidFill>
                  <a:srgbClr val="FFFFFF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Quantity by Category</a:t>
            </a:r>
            <a:endParaRPr lang="en-US" sz="800" dirty="0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58484" y="608260"/>
            <a:ext cx="3501401" cy="2520394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6598974" y="3283645"/>
            <a:ext cx="5900888" cy="1047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650" dirty="0">
                <a:solidFill>
                  <a:srgbClr val="D9E1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Clothing dominates with </a:t>
            </a:r>
            <a:r>
              <a:rPr lang="en-US" sz="650" b="1" dirty="0">
                <a:solidFill>
                  <a:srgbClr val="D9E1FF"/>
                </a:solidFill>
                <a:latin typeface="Arimo Bold" pitchFamily="34" charset="0"/>
                <a:ea typeface="Arimo Bold" pitchFamily="34" charset="-122"/>
                <a:cs typeface="Arimo Bold" pitchFamily="34" charset="-120"/>
              </a:rPr>
              <a:t>62.62%</a:t>
            </a:r>
            <a:r>
              <a:rPr lang="en-US" sz="650" dirty="0">
                <a:solidFill>
                  <a:srgbClr val="D9E1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 of units sold. Electronics (20.55%) and Furniture (16.83%) trail significantly.</a:t>
            </a:r>
            <a:endParaRPr lang="en-US" sz="650" dirty="0"/>
          </a:p>
        </p:txBody>
      </p:sp>
      <p:sp>
        <p:nvSpPr>
          <p:cNvPr id="10" name="Text 6"/>
          <p:cNvSpPr/>
          <p:nvPr/>
        </p:nvSpPr>
        <p:spPr>
          <a:xfrm>
            <a:off x="499752" y="3465006"/>
            <a:ext cx="5291303" cy="1282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800" b="1" dirty="0">
                <a:solidFill>
                  <a:srgbClr val="FFFFFF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Payment Mode Distribution</a:t>
            </a:r>
            <a:endParaRPr lang="en-US" sz="800" dirty="0"/>
          </a:p>
        </p:txBody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34713" y="3776003"/>
            <a:ext cx="3622712" cy="2607716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499752" y="6479015"/>
            <a:ext cx="5900888" cy="1047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650" dirty="0">
                <a:solidFill>
                  <a:srgbClr val="D9E1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COD leads at 43.74%, signaling strong cash-preference. UPI (20.61%) is the top digital method.</a:t>
            </a:r>
            <a:endParaRPr lang="en-US" sz="650" dirty="0"/>
          </a:p>
        </p:txBody>
      </p:sp>
      <p:sp>
        <p:nvSpPr>
          <p:cNvPr id="13" name="Text 8"/>
          <p:cNvSpPr/>
          <p:nvPr/>
        </p:nvSpPr>
        <p:spPr>
          <a:xfrm>
            <a:off x="6598974" y="3479266"/>
            <a:ext cx="5291303" cy="1282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800" b="1" dirty="0">
                <a:solidFill>
                  <a:srgbClr val="FFFFFF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Top States by Profit (K)</a:t>
            </a:r>
            <a:endParaRPr lang="en-US" sz="800" dirty="0"/>
          </a:p>
        </p:txBody>
      </p:sp>
      <p:pic>
        <p:nvPicPr>
          <p:cNvPr id="14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47744" y="3776003"/>
            <a:ext cx="3622712" cy="2607716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6598974" y="6479015"/>
            <a:ext cx="5900888" cy="1047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650" dirty="0">
                <a:solidFill>
                  <a:srgbClr val="D9E1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Top two states account for ~35% of total profit. Central and western India drive strongest returns.</a:t>
            </a:r>
            <a:endParaRPr lang="en-US" sz="6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98086" y="542727"/>
            <a:ext cx="10795524" cy="5053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150" b="1" dirty="0">
                <a:solidFill>
                  <a:srgbClr val="FFFFFF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Key Business Insights</a:t>
            </a:r>
            <a:endParaRPr lang="en-US" sz="3150" dirty="0"/>
          </a:p>
        </p:txBody>
      </p:sp>
      <p:sp>
        <p:nvSpPr>
          <p:cNvPr id="3" name="Text 1"/>
          <p:cNvSpPr/>
          <p:nvPr/>
        </p:nvSpPr>
        <p:spPr>
          <a:xfrm>
            <a:off x="698086" y="1386284"/>
            <a:ext cx="10795524" cy="5455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2000"/>
              </a:lnSpc>
              <a:buNone/>
            </a:pPr>
            <a:r>
              <a:rPr lang="en-US" sz="1350" dirty="0">
                <a:solidFill>
                  <a:srgbClr val="D9E1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These insights are drawn directly from the Power BI dashboard data, highlighting top performers, underperformers, and critical trends across categories, regions, and time periods.</a:t>
            </a:r>
            <a:endParaRPr lang="en-US" sz="135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98086" y="2121991"/>
            <a:ext cx="429507" cy="42951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338924" y="2121991"/>
            <a:ext cx="4651259" cy="2526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50" b="1" dirty="0">
                <a:solidFill>
                  <a:srgbClr val="D9E1FF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Printers Lead in Revenue &amp; Profit</a:t>
            </a:r>
            <a:endParaRPr lang="en-US" sz="1550" dirty="0"/>
          </a:p>
        </p:txBody>
      </p:sp>
      <p:sp>
        <p:nvSpPr>
          <p:cNvPr id="6" name="Text 3"/>
          <p:cNvSpPr/>
          <p:nvPr/>
        </p:nvSpPr>
        <p:spPr>
          <a:xfrm>
            <a:off x="1338924" y="2476004"/>
            <a:ext cx="4651259" cy="81825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2000"/>
              </a:lnSpc>
              <a:buNone/>
            </a:pPr>
            <a:r>
              <a:rPr lang="en-US" sz="1350" dirty="0">
                <a:solidFill>
                  <a:srgbClr val="D9E1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Printers top both revenue (60K) and profit (8.6K). Bookcases follow closely (57K amount, 6.5K profit). These are the strongest sub-categories.</a:t>
            </a:r>
            <a:endParaRPr lang="en-US" sz="1350" dirty="0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201513" y="2121991"/>
            <a:ext cx="429507" cy="429518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6842351" y="2121991"/>
            <a:ext cx="4651259" cy="2526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50" b="1" dirty="0">
                <a:solidFill>
                  <a:srgbClr val="D9E1FF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Four Sub-Categories at a Loss</a:t>
            </a:r>
            <a:endParaRPr lang="en-US" sz="1550" dirty="0"/>
          </a:p>
        </p:txBody>
      </p:sp>
      <p:sp>
        <p:nvSpPr>
          <p:cNvPr id="9" name="Text 5"/>
          <p:cNvSpPr/>
          <p:nvPr/>
        </p:nvSpPr>
        <p:spPr>
          <a:xfrm>
            <a:off x="6842351" y="2476004"/>
            <a:ext cx="4651259" cy="81825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2000"/>
              </a:lnSpc>
              <a:buNone/>
            </a:pPr>
            <a:r>
              <a:rPr lang="en-US" sz="1350" dirty="0">
                <a:solidFill>
                  <a:srgbClr val="D9E1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Furnishings (-0.8K), Electronic Games (-0.6K), Kurti (-0.4K), and Skirt (-0.3K) posted negative profits — immediate review needed.</a:t>
            </a:r>
            <a:endParaRPr lang="en-US" sz="1350" dirty="0"/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98086" y="3632498"/>
            <a:ext cx="429507" cy="429518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1338924" y="3632498"/>
            <a:ext cx="4651259" cy="2526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50" b="1" dirty="0">
                <a:solidFill>
                  <a:srgbClr val="D9E1FF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Strong Seasonal Profit Pattern</a:t>
            </a:r>
            <a:endParaRPr lang="en-US" sz="1550" dirty="0"/>
          </a:p>
        </p:txBody>
      </p:sp>
      <p:sp>
        <p:nvSpPr>
          <p:cNvPr id="12" name="Text 7"/>
          <p:cNvSpPr/>
          <p:nvPr/>
        </p:nvSpPr>
        <p:spPr>
          <a:xfrm>
            <a:off x="1338924" y="3986510"/>
            <a:ext cx="4651259" cy="81825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2000"/>
              </a:lnSpc>
              <a:buNone/>
            </a:pPr>
            <a:r>
              <a:rPr lang="en-US" sz="1350" dirty="0">
                <a:solidFill>
                  <a:srgbClr val="D9E1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January (9.7K) and November (10.3K) are peak months. Four months posted losses, suggesting strong seasonality and festival-driven demand.</a:t>
            </a:r>
            <a:endParaRPr lang="en-US" sz="1350" dirty="0"/>
          </a:p>
        </p:txBody>
      </p:sp>
      <p:pic>
        <p:nvPicPr>
          <p:cNvPr id="13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201513" y="3632498"/>
            <a:ext cx="429507" cy="429518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6842351" y="3632498"/>
            <a:ext cx="4651259" cy="2526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50" b="1" dirty="0">
                <a:solidFill>
                  <a:srgbClr val="D9E1FF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Central &amp; Western India Dominate</a:t>
            </a:r>
            <a:endParaRPr lang="en-US" sz="1550" dirty="0"/>
          </a:p>
        </p:txBody>
      </p:sp>
      <p:sp>
        <p:nvSpPr>
          <p:cNvPr id="15" name="Text 9"/>
          <p:cNvSpPr/>
          <p:nvPr/>
        </p:nvSpPr>
        <p:spPr>
          <a:xfrm>
            <a:off x="6842351" y="3986510"/>
            <a:ext cx="4651259" cy="81825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2000"/>
              </a:lnSpc>
              <a:buNone/>
            </a:pPr>
            <a:r>
              <a:rPr lang="en-US" sz="1350" dirty="0">
                <a:solidFill>
                  <a:srgbClr val="D9E1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Madhya Pradesh (6.8K) and Maharashtra (6.2K) lead state profits. Indore and Pune are top-performing cities, each contributing over 6K in profit.</a:t>
            </a:r>
            <a:endParaRPr lang="en-US" sz="1350" dirty="0"/>
          </a:p>
        </p:txBody>
      </p:sp>
      <p:pic>
        <p:nvPicPr>
          <p:cNvPr id="16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98086" y="5143004"/>
            <a:ext cx="429507" cy="429518"/>
          </a:xfrm>
          <a:prstGeom prst="rect">
            <a:avLst/>
          </a:prstGeom>
        </p:spPr>
      </p:pic>
      <p:sp>
        <p:nvSpPr>
          <p:cNvPr id="17" name="Text 10"/>
          <p:cNvSpPr/>
          <p:nvPr/>
        </p:nvSpPr>
        <p:spPr>
          <a:xfrm>
            <a:off x="1338924" y="5143004"/>
            <a:ext cx="4651259" cy="2526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50" b="1" dirty="0">
                <a:solidFill>
                  <a:srgbClr val="D9E1FF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Cash on Delivery Dominates Payments</a:t>
            </a:r>
            <a:endParaRPr lang="en-US" sz="1550" dirty="0"/>
          </a:p>
        </p:txBody>
      </p:sp>
      <p:sp>
        <p:nvSpPr>
          <p:cNvPr id="18" name="Text 11"/>
          <p:cNvSpPr/>
          <p:nvPr/>
        </p:nvSpPr>
        <p:spPr>
          <a:xfrm>
            <a:off x="1338924" y="5497016"/>
            <a:ext cx="4651259" cy="81825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2000"/>
              </a:lnSpc>
              <a:buNone/>
            </a:pPr>
            <a:r>
              <a:rPr lang="en-US" sz="1350" dirty="0">
                <a:solidFill>
                  <a:srgbClr val="D9E1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COD accounts for 43.74% of transactions — nearly double UPI (20.61%). Card and EMI modes each hold 10–13% share.</a:t>
            </a:r>
            <a:endParaRPr lang="en-US" sz="1350" dirty="0"/>
          </a:p>
        </p:txBody>
      </p:sp>
      <p:pic>
        <p:nvPicPr>
          <p:cNvPr id="19" name="Image 5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201513" y="5143004"/>
            <a:ext cx="429507" cy="429518"/>
          </a:xfrm>
          <a:prstGeom prst="rect">
            <a:avLst/>
          </a:prstGeom>
        </p:spPr>
      </p:pic>
      <p:sp>
        <p:nvSpPr>
          <p:cNvPr id="20" name="Text 12"/>
          <p:cNvSpPr/>
          <p:nvPr/>
        </p:nvSpPr>
        <p:spPr>
          <a:xfrm>
            <a:off x="6842351" y="5143004"/>
            <a:ext cx="4651259" cy="2526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50" b="1" dirty="0">
                <a:solidFill>
                  <a:srgbClr val="D9E1FF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Clothing Drives Volume, Not Always Profit</a:t>
            </a:r>
            <a:endParaRPr lang="en-US" sz="1550" dirty="0"/>
          </a:p>
        </p:txBody>
      </p:sp>
      <p:sp>
        <p:nvSpPr>
          <p:cNvPr id="21" name="Text 13"/>
          <p:cNvSpPr/>
          <p:nvPr/>
        </p:nvSpPr>
        <p:spPr>
          <a:xfrm>
            <a:off x="6842351" y="5497016"/>
            <a:ext cx="4651259" cy="81825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2000"/>
              </a:lnSpc>
              <a:buNone/>
            </a:pPr>
            <a:r>
              <a:rPr lang="en-US" sz="1350" dirty="0">
                <a:solidFill>
                  <a:srgbClr val="D9E1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Clothing leads quantity (62.62%) and revenue (Saree: 59K), but several sub-categories like Kurti and Skirt are unprofitable despite high volume.</a:t>
            </a:r>
            <a:endParaRPr lang="en-US" sz="13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98086" y="550664"/>
            <a:ext cx="10795524" cy="3448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150" b="1" dirty="0">
                <a:solidFill>
                  <a:srgbClr val="FFFFFF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Conclusion &amp; Recommendations</a:t>
            </a:r>
            <a:endParaRPr lang="en-US" sz="2150" dirty="0"/>
          </a:p>
        </p:txBody>
      </p:sp>
      <p:sp>
        <p:nvSpPr>
          <p:cNvPr id="3" name="Text 1"/>
          <p:cNvSpPr/>
          <p:nvPr/>
        </p:nvSpPr>
        <p:spPr>
          <a:xfrm>
            <a:off x="698086" y="1053108"/>
            <a:ext cx="10795524" cy="3135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1000"/>
              </a:lnSpc>
              <a:buNone/>
            </a:pPr>
            <a:r>
              <a:rPr lang="en-US" sz="900" dirty="0">
                <a:solidFill>
                  <a:srgbClr val="D9E1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The Power BI dashboard reveals a business with strong revenue potential but uneven profitability. Strategic focus on high-performing products, loss-making sub-categories, and seasonal planning can significantly improve overall margins.</a:t>
            </a:r>
            <a:endParaRPr lang="en-US" sz="9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98086" y="1455241"/>
            <a:ext cx="10795524" cy="70356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857328" y="1697038"/>
            <a:ext cx="175811" cy="21986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D9E1FF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1</a:t>
            </a:r>
            <a:endParaRPr lang="en-US" sz="1350" dirty="0"/>
          </a:p>
        </p:txBody>
      </p:sp>
      <p:sp>
        <p:nvSpPr>
          <p:cNvPr id="6" name="Text 3"/>
          <p:cNvSpPr/>
          <p:nvPr/>
        </p:nvSpPr>
        <p:spPr>
          <a:xfrm>
            <a:off x="1258558" y="1585119"/>
            <a:ext cx="10105177" cy="17244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50" b="1" dirty="0">
                <a:solidFill>
                  <a:srgbClr val="D9E1FF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Prioritize High-Profit Sub-Categories</a:t>
            </a:r>
            <a:endParaRPr lang="en-US" sz="1050" dirty="0"/>
          </a:p>
        </p:txBody>
      </p:sp>
      <p:sp>
        <p:nvSpPr>
          <p:cNvPr id="7" name="Text 4"/>
          <p:cNvSpPr/>
          <p:nvPr/>
        </p:nvSpPr>
        <p:spPr>
          <a:xfrm>
            <a:off x="1258558" y="1804789"/>
            <a:ext cx="10105177" cy="1567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1000"/>
              </a:lnSpc>
              <a:buNone/>
            </a:pPr>
            <a:r>
              <a:rPr lang="en-US" sz="900" dirty="0">
                <a:solidFill>
                  <a:srgbClr val="D9E1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Increase inventory and marketing for Printers and Bookcases — the top profit drivers. Consider bundling strategies to boost their sales further.</a:t>
            </a:r>
            <a:endParaRPr lang="en-US" sz="900" dirty="0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98086" y="2237581"/>
            <a:ext cx="10795524" cy="70356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857328" y="2479377"/>
            <a:ext cx="175811" cy="21986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D9E1FF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2</a:t>
            </a:r>
            <a:endParaRPr lang="en-US" sz="1350" dirty="0"/>
          </a:p>
        </p:txBody>
      </p:sp>
      <p:sp>
        <p:nvSpPr>
          <p:cNvPr id="10" name="Text 6"/>
          <p:cNvSpPr/>
          <p:nvPr/>
        </p:nvSpPr>
        <p:spPr>
          <a:xfrm>
            <a:off x="1258558" y="2367459"/>
            <a:ext cx="10105177" cy="17244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50" b="1" dirty="0">
                <a:solidFill>
                  <a:srgbClr val="D9E1FF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Audit or Discontinue Loss-Making Products</a:t>
            </a:r>
            <a:endParaRPr lang="en-US" sz="1050" dirty="0"/>
          </a:p>
        </p:txBody>
      </p:sp>
      <p:sp>
        <p:nvSpPr>
          <p:cNvPr id="11" name="Text 7"/>
          <p:cNvSpPr/>
          <p:nvPr/>
        </p:nvSpPr>
        <p:spPr>
          <a:xfrm>
            <a:off x="1258558" y="2587129"/>
            <a:ext cx="10105177" cy="1567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1000"/>
              </a:lnSpc>
              <a:buNone/>
            </a:pPr>
            <a:r>
              <a:rPr lang="en-US" sz="900" dirty="0">
                <a:solidFill>
                  <a:srgbClr val="D9E1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Review Furnishings, Electronic Games, Kurti, and Skirt for cost reduction, repricing, or discontinuation to eliminate negative profit contributions.</a:t>
            </a:r>
            <a:endParaRPr lang="en-US" sz="900" dirty="0"/>
          </a:p>
        </p:txBody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98086" y="3019921"/>
            <a:ext cx="10795524" cy="70356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857328" y="3261717"/>
            <a:ext cx="175811" cy="21986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D9E1FF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3</a:t>
            </a:r>
            <a:endParaRPr lang="en-US" sz="1350" dirty="0"/>
          </a:p>
        </p:txBody>
      </p:sp>
      <p:sp>
        <p:nvSpPr>
          <p:cNvPr id="14" name="Text 9"/>
          <p:cNvSpPr/>
          <p:nvPr/>
        </p:nvSpPr>
        <p:spPr>
          <a:xfrm>
            <a:off x="1258558" y="3149798"/>
            <a:ext cx="10105177" cy="17244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50" b="1" dirty="0">
                <a:solidFill>
                  <a:srgbClr val="D9E1FF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Strengthen Q2–Q3 Performance</a:t>
            </a:r>
            <a:endParaRPr lang="en-US" sz="1050" dirty="0"/>
          </a:p>
        </p:txBody>
      </p:sp>
      <p:sp>
        <p:nvSpPr>
          <p:cNvPr id="15" name="Text 10"/>
          <p:cNvSpPr/>
          <p:nvPr/>
        </p:nvSpPr>
        <p:spPr>
          <a:xfrm>
            <a:off x="1258558" y="3369469"/>
            <a:ext cx="10105177" cy="1567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1000"/>
              </a:lnSpc>
              <a:buNone/>
            </a:pPr>
            <a:r>
              <a:rPr lang="en-US" sz="900" dirty="0">
                <a:solidFill>
                  <a:srgbClr val="D9E1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May, July, September, and December posted losses. Launch targeted promotions or seasonal campaigns to stabilize profitability during these weak months.</a:t>
            </a:r>
            <a:endParaRPr lang="en-US" sz="900" dirty="0"/>
          </a:p>
        </p:txBody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98086" y="3802261"/>
            <a:ext cx="10795524" cy="703560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857328" y="4044057"/>
            <a:ext cx="175811" cy="21986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D9E1FF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4</a:t>
            </a:r>
            <a:endParaRPr lang="en-US" sz="1350" dirty="0"/>
          </a:p>
        </p:txBody>
      </p:sp>
      <p:sp>
        <p:nvSpPr>
          <p:cNvPr id="18" name="Text 12"/>
          <p:cNvSpPr/>
          <p:nvPr/>
        </p:nvSpPr>
        <p:spPr>
          <a:xfrm>
            <a:off x="1258558" y="3932138"/>
            <a:ext cx="10105177" cy="17244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50" b="1" dirty="0">
                <a:solidFill>
                  <a:srgbClr val="D9E1FF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Expand in Top-Performing Regions</a:t>
            </a:r>
            <a:endParaRPr lang="en-US" sz="1050" dirty="0"/>
          </a:p>
        </p:txBody>
      </p:sp>
      <p:sp>
        <p:nvSpPr>
          <p:cNvPr id="19" name="Text 13"/>
          <p:cNvSpPr/>
          <p:nvPr/>
        </p:nvSpPr>
        <p:spPr>
          <a:xfrm>
            <a:off x="1258558" y="4151809"/>
            <a:ext cx="10105177" cy="1567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1000"/>
              </a:lnSpc>
              <a:buNone/>
            </a:pPr>
            <a:r>
              <a:rPr lang="en-US" sz="900" dirty="0">
                <a:solidFill>
                  <a:srgbClr val="D9E1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Deepen market presence in Madhya Pradesh, Maharashtra, Indore, and Pune. These regions show the strongest profit contribution and growth potential.</a:t>
            </a:r>
            <a:endParaRPr lang="en-US" sz="900" dirty="0"/>
          </a:p>
        </p:txBody>
      </p:sp>
      <p:pic>
        <p:nvPicPr>
          <p:cNvPr id="20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98086" y="4584601"/>
            <a:ext cx="10795524" cy="703560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857328" y="4826397"/>
            <a:ext cx="175811" cy="21986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D9E1FF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5</a:t>
            </a:r>
            <a:endParaRPr lang="en-US" sz="1350" dirty="0"/>
          </a:p>
        </p:txBody>
      </p:sp>
      <p:sp>
        <p:nvSpPr>
          <p:cNvPr id="22" name="Text 15"/>
          <p:cNvSpPr/>
          <p:nvPr/>
        </p:nvSpPr>
        <p:spPr>
          <a:xfrm>
            <a:off x="1258558" y="4714478"/>
            <a:ext cx="10105177" cy="17244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50" b="1" dirty="0">
                <a:solidFill>
                  <a:srgbClr val="D9E1FF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Incentivize Digital Payments</a:t>
            </a:r>
            <a:endParaRPr lang="en-US" sz="1050" dirty="0"/>
          </a:p>
        </p:txBody>
      </p:sp>
      <p:sp>
        <p:nvSpPr>
          <p:cNvPr id="23" name="Text 16"/>
          <p:cNvSpPr/>
          <p:nvPr/>
        </p:nvSpPr>
        <p:spPr>
          <a:xfrm>
            <a:off x="1258558" y="4934148"/>
            <a:ext cx="10105177" cy="1567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1000"/>
              </a:lnSpc>
              <a:buNone/>
            </a:pPr>
            <a:r>
              <a:rPr lang="en-US" sz="900" dirty="0">
                <a:solidFill>
                  <a:srgbClr val="D9E1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COD dominates at 43.74%. Offer discounts for UPI and card payments to reduce cash-handling costs and improve transaction efficiency.</a:t>
            </a:r>
            <a:endParaRPr lang="en-US" sz="900" dirty="0"/>
          </a:p>
        </p:txBody>
      </p:sp>
      <p:sp>
        <p:nvSpPr>
          <p:cNvPr id="24" name="Shape 17"/>
          <p:cNvSpPr/>
          <p:nvPr/>
        </p:nvSpPr>
        <p:spPr>
          <a:xfrm>
            <a:off x="698086" y="5376763"/>
            <a:ext cx="10795524" cy="364927"/>
          </a:xfrm>
          <a:prstGeom prst="roundRect">
            <a:avLst>
              <a:gd name="adj" fmla="val 4820"/>
            </a:avLst>
          </a:prstGeom>
          <a:solidFill>
            <a:srgbClr val="190080"/>
          </a:solidFill>
          <a:ln/>
        </p:spPr>
      </p:sp>
      <p:pic>
        <p:nvPicPr>
          <p:cNvPr id="25" name="Image 5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5260" y="5490170"/>
            <a:ext cx="146542" cy="117177"/>
          </a:xfrm>
          <a:prstGeom prst="rect">
            <a:avLst/>
          </a:prstGeom>
        </p:spPr>
      </p:pic>
      <p:sp>
        <p:nvSpPr>
          <p:cNvPr id="26" name="Text 18"/>
          <p:cNvSpPr/>
          <p:nvPr/>
        </p:nvSpPr>
        <p:spPr>
          <a:xfrm>
            <a:off x="1078977" y="5484813"/>
            <a:ext cx="10907043" cy="1567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100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Arimo Bold" pitchFamily="34" charset="0"/>
                <a:ea typeface="Arimo Bold" pitchFamily="34" charset="-122"/>
                <a:cs typeface="Arimo Bold" pitchFamily="34" charset="-120"/>
              </a:rPr>
              <a:t>Power BI in Decision-Making:</a:t>
            </a:r>
            <a:r>
              <a:rPr lang="en-US" sz="900" dirty="0">
                <a:solidFill>
                  <a:srgbClr val="FFFF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 This dashboard transforms raw retail data into clear visual insights — enabling faster, data-driven decisions across product, regional, and financial dimensions.</a:t>
            </a:r>
            <a:endParaRPr lang="en-US" sz="900" dirty="0"/>
          </a:p>
        </p:txBody>
      </p:sp>
      <p:sp>
        <p:nvSpPr>
          <p:cNvPr id="27" name="Text 19"/>
          <p:cNvSpPr/>
          <p:nvPr/>
        </p:nvSpPr>
        <p:spPr>
          <a:xfrm>
            <a:off x="698086" y="5859859"/>
            <a:ext cx="10795524" cy="17244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Thank You</a:t>
            </a:r>
            <a:endParaRPr lang="en-US" sz="1050" dirty="0"/>
          </a:p>
        </p:txBody>
      </p:sp>
      <p:sp>
        <p:nvSpPr>
          <p:cNvPr id="28" name="Text 20"/>
          <p:cNvSpPr/>
          <p:nvPr/>
        </p:nvSpPr>
        <p:spPr>
          <a:xfrm>
            <a:off x="698086" y="6150471"/>
            <a:ext cx="11405108" cy="1567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1000"/>
              </a:lnSpc>
              <a:buNone/>
            </a:pPr>
            <a:r>
              <a:rPr lang="en-US" sz="900" dirty="0">
                <a:solidFill>
                  <a:srgbClr val="D9E1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This analysis was created using </a:t>
            </a:r>
            <a:r>
              <a:rPr lang="en-US" sz="900" b="1" dirty="0">
                <a:solidFill>
                  <a:srgbClr val="D9E1FF"/>
                </a:solidFill>
                <a:latin typeface="Arimo Bold" pitchFamily="34" charset="0"/>
                <a:ea typeface="Arimo Bold" pitchFamily="34" charset="-122"/>
                <a:cs typeface="Arimo Bold" pitchFamily="34" charset="-120"/>
              </a:rPr>
              <a:t>Power BI</a:t>
            </a:r>
            <a:r>
              <a:rPr lang="en-US" sz="900" dirty="0">
                <a:solidFill>
                  <a:srgbClr val="D9E1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 — demonstrating how modern data visualization tools empower businesses to understand performance, identify opportunities, and drive growth.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3B69BBE-8987-BDA7-D534-E4EF850BCFD0}"/>
              </a:ext>
            </a:extLst>
          </p:cNvPr>
          <p:cNvSpPr txBox="1"/>
          <p:nvPr/>
        </p:nvSpPr>
        <p:spPr>
          <a:xfrm>
            <a:off x="3069771" y="2575296"/>
            <a:ext cx="9274629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8000" b="1" dirty="0">
                <a:solidFill>
                  <a:schemeClr val="bg1"/>
                </a:solidFill>
              </a:rPr>
              <a:t>Thank You…..</a:t>
            </a:r>
          </a:p>
        </p:txBody>
      </p:sp>
    </p:spTree>
    <p:extLst>
      <p:ext uri="{BB962C8B-B14F-4D97-AF65-F5344CB8AC3E}">
        <p14:creationId xmlns:p14="http://schemas.microsoft.com/office/powerpoint/2010/main" val="402079682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19</TotalTime>
  <Words>840</Words>
  <Application>Microsoft Office PowerPoint</Application>
  <PresentationFormat>Widescreen</PresentationFormat>
  <Paragraphs>76</Paragraphs>
  <Slides>8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3" baseType="lpstr">
      <vt:lpstr>Arial</vt:lpstr>
      <vt:lpstr>Arimo</vt:lpstr>
      <vt:lpstr>Syne Bold</vt:lpstr>
      <vt:lpstr>Arimo 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>Kshitiz Singh</cp:lastModifiedBy>
  <cp:revision>5</cp:revision>
  <dcterms:created xsi:type="dcterms:W3CDTF">2026-09-16T07:38:34Z</dcterms:created>
  <dcterms:modified xsi:type="dcterms:W3CDTF">2026-09-16T11:42:36Z</dcterms:modified>
</cp:coreProperties>
</file>